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7B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685800" y="28346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— 六講 × 2 小時 · 3 學分等級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320040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工業設計、人因工程、材料與結構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45262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夾在頭上的工程:把舒適變成數字、把材料變成規格、把量產變成品質體系 — 並面對設計者無法迴避的永續責任。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5532120"/>
            <a:ext cx="1261872" cy="402336"/>
          </a:xfrm>
          <a:prstGeom prst="rect">
            <a:avLst/>
          </a:prstGeom>
          <a:solidFill>
            <a:srgbClr val="27306E"/>
          </a:solidFill>
          <a:ln w="9525">
            <a:solidFill>
              <a:srgbClr val="5A6B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人因工程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112264" y="5532120"/>
            <a:ext cx="1261872" cy="402336"/>
          </a:xfrm>
          <a:prstGeom prst="rect">
            <a:avLst/>
          </a:prstGeom>
          <a:solidFill>
            <a:srgbClr val="27306E"/>
          </a:solidFill>
          <a:ln w="9525">
            <a:solidFill>
              <a:srgbClr val="5A6B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工業設計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538728" y="5532120"/>
            <a:ext cx="1042416" cy="402336"/>
          </a:xfrm>
          <a:prstGeom prst="rect">
            <a:avLst/>
          </a:prstGeom>
          <a:solidFill>
            <a:srgbClr val="27306E"/>
          </a:solidFill>
          <a:ln w="9525">
            <a:solidFill>
              <a:srgbClr val="5A6B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CMF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45736" y="5532120"/>
            <a:ext cx="1261872" cy="402336"/>
          </a:xfrm>
          <a:prstGeom prst="rect">
            <a:avLst/>
          </a:prstGeom>
          <a:solidFill>
            <a:srgbClr val="27306E"/>
          </a:solidFill>
          <a:ln w="9525">
            <a:solidFill>
              <a:srgbClr val="5A6B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材料科學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72200" y="5532120"/>
            <a:ext cx="1261872" cy="402336"/>
          </a:xfrm>
          <a:prstGeom prst="rect">
            <a:avLst/>
          </a:prstGeom>
          <a:solidFill>
            <a:srgbClr val="27306E"/>
          </a:solidFill>
          <a:ln w="9525">
            <a:solidFill>
              <a:srgbClr val="5A6B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結構製造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598664" y="5532120"/>
            <a:ext cx="1042416" cy="402336"/>
          </a:xfrm>
          <a:prstGeom prst="rect">
            <a:avLst/>
          </a:prstGeom>
          <a:solidFill>
            <a:srgbClr val="27306E"/>
          </a:solidFill>
          <a:ln w="9525">
            <a:solidFill>
              <a:srgbClr val="5A6B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DFM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74175" y="411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7B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4 · 120 min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LEARNING OBJECTIVES &amp; 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學習目標與課堂時間配置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201400" cy="1051560"/>
          </a:xfrm>
          <a:prstGeom prst="rect">
            <a:avLst/>
          </a:prstGeom>
          <a:solidFill>
            <a:srgbClr val="EAF1FC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學習目標  </a:t>
            </a:r>
            <a:pPr indent="0" marL="0">
              <a:buNone/>
            </a:pPr>
            <a:r>
              <a:rPr lang="en-US" sz="135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能以夾持力、峰值壓力、重量與熱指標量化配戴設計;能依「比模數+內阻尼」評選材料;能描述量產品質體系;能將可維修性納入設計決策。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697480"/>
          <a:ext cx="11201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7269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單元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0:00–0:30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人因工程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3D 人體計測、夾持力窗口、壓力分布、重量與熱舒適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0:30–0:55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機構與 CMF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滑軌、軛旋轉、鉸鏈疲勞、異音控制;CMF 與辨識度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0:55–1:05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休息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1:05–1:30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材料科學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振膜材料階梯、磁體、殼體材料、阻尼網規格化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1:30–1:50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製造與品質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單體配對、產線 QC、可靠度驗證、永續與可維修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1:50–2:00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評圖演練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兩款市售耳機之 ID/人因快評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第4講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目標與配置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ANTHROPOMETRICS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人體計測:耳機的「安裝面」規格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014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926080"/>
                <a:gridCol w="5349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參數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典型成人範圍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影響的設計項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頭寬(雙耳上方)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約 135–165 mm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頭帶展開量與夾持力曲線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頭頂至耳道弧長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約 300–380 mm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滑軌行程(覆蓋 5–95 百分位)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耳廓高度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約 55–70 mm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耳墊內腔開口(耳廓不可觸底或折壓)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耳道直徑 / 角度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約 7–9 mm,朝前下傾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耳塞尺寸階(S/M/L+橢圓)、出音嘴角度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806440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▍</a:t>
            </a:r>
            <a:pPr indent="0" marL="0">
              <a:buNone/>
            </a:pPr>
            <a:r>
              <a:rPr lang="en-US" sz="125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各人群分布差異顯著 → 單一幾何無法全球通用:多尺寸耳塞、大行程頭帶、客製耳模市場的統計學原因。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第4講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人體計測:耳機的「安裝面」規格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CLAMP &amp; PRESSURE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夾持力與壓力分布(計算例)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201400" cy="150876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72768"/>
            <a:ext cx="10698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平均壓力 P = F / 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N ÷ 35 cm² ≈ 1.4 kPa(舒適)   5 N ÷ 8 cm² ≈ 6.3 kPa(半小時即痛)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參考:微血管灌流壓 ≈ 4 kPa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3246120"/>
            <a:ext cx="11201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耳罩式舒適窗:總夾持力 3–6 N(145–155 mm 治具);&gt;5–6 N 一小時內疲勞、&lt;2 N 晃動且低頻密封失效</a:t>
            </a:r>
            <a:endParaRPr lang="en-US" sz="132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決定舒適的是「峰值壓力分布」而非夾持力本身 → 更大更深更軟的耳墊是壓力管理工程</a:t>
            </a:r>
            <a:endParaRPr lang="en-US" sz="132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重量預算:&lt;250 g 無感;300–400 g 需頭帶分載;&gt;450 g 限制時長;耳殼深度的頸部力矩與克重同等重要</a:t>
            </a:r>
            <a:endParaRPr lang="en-US" sz="132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熱舒適:皮革密封佳但鎖熱鎖濕;絨布透氣但洩漏低頻 — 真實取捨,依情境選邊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第4講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夾持力與壓力分布(計算例)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MECHANISM &amp; CMF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機構設計與 CMF:每個關節都是規格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72684" cy="2295144"/>
          </a:xfrm>
          <a:prstGeom prst="roundRect">
            <a:avLst>
              <a:gd name="adj" fmla="val 2789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554480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滑軌與軛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9224" y="1938528"/>
            <a:ext cx="518007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段落式/平滑式/自適應懸吊;行程覆蓋 5–95 百分位。軛需俯仰+旋轉兩自由度貼合頰平面 — 自由度不足 → 局部洩漏 → 左右低頻不對稱(測量可見)。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6231636" y="1463040"/>
            <a:ext cx="5472684" cy="2295144"/>
          </a:xfrm>
          <a:prstGeom prst="roundRect">
            <a:avLst>
              <a:gd name="adj" fmla="val 2789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77940" y="1554480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鉸鏈與異音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77940" y="1938528"/>
            <a:ext cx="518007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摺疊鉸鏈是經典疲勞破壞點(開合 &gt;50k 次規格)。耳機是戴在耳邊的震動感測器:機構微動、線材摩擦都被放大 — 異音是正式測試項目。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502920" y="4014216"/>
            <a:ext cx="5472684" cy="2295144"/>
          </a:xfrm>
          <a:prstGeom prst="roundRect">
            <a:avLst>
              <a:gd name="adj" fmla="val 2789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4105656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CMF 方法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9224" y="4489704"/>
            <a:ext cx="518007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Color(主色+材質色+點綴色)、Material(觸感與重量感)、Finish(陽極/PVD/咬花/軟觸漆)。耳機是穿戴物 — CMF 同時對佩戴者與旁觀者說話。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6231636" y="4014216"/>
            <a:ext cx="5472684" cy="2295144"/>
          </a:xfrm>
          <a:prstGeom prst="roundRect">
            <a:avLst>
              <a:gd name="adj" fmla="val 2789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7940" y="4105656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辨識度資產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77940" y="4489704"/>
            <a:ext cx="518007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AirPods 白柄、Beats「b」、HD 800 銀色鏤空 — 100 公尺可辨識的輪廓是行銷資產。控制介面:實體鍵 vs 觸控 vs 旋鈕冠;TWS 敲擊聲直接進耳需去耦。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第4講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機構設計與 CMF:每個關節都是規格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DIAPHRAGM MATERIALS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振膜材料:比模數 E/ρ 的競賽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01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80160"/>
                <a:gridCol w="1371600"/>
                <a:gridCol w="1371600"/>
                <a:gridCol w="4434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材料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 (GPa)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ρ (g/cm³)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比模數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評註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PET / Mylar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1.40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基準:便宜、阻尼佳、易成形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LCP 液晶聚合物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~10+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~7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TWS 高階常客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生物纖維素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~30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Sony R10 / Fostex;「紙的極致」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鋁 / 鎂 / 鈦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45–110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1.7–4.5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~24–26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金屬鈴振需鍍層或複合抑制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鈹 Be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287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1.85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~155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可用材料之王(Focal Utopia);粉塵毒性→加工昂貴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DLC/CNT/石墨烯鍍層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本質=聚合物膜+硬鍍層;行銷常跑在物理前面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806440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▍</a:t>
            </a:r>
            <a:pPr indent="0" marL="0">
              <a:buNone/>
            </a:pPr>
            <a:r>
              <a:rPr lang="en-US" sz="125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資料素養:問三個數字 — 基材是什麼?膜厚多少?break-up 推到哪?答不出來的是行銷部寫的規格。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第4講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振膜材料:比模數 E/ρ 的競賽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MAGNETS &amp; HOUSING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磁體與殼體結構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563112" cy="3931920"/>
          </a:xfrm>
          <a:prstGeom prst="roundRect">
            <a:avLst>
              <a:gd name="adj" fmla="val 1796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55448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磁體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9224" y="1938528"/>
            <a:ext cx="3270504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釹鐵硼 N48–N55 主流(磁通 vs 耐溫取捨);平板磁陣佔其 BOM 與重量大宗 → 單側磁陣是減重降價主路徑;磁隙潔淨度=良率生命線:0.5 mm 磁隙一粒鐵屑=一件退貨。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4322064" y="1463040"/>
            <a:ext cx="3563112" cy="3931920"/>
          </a:xfrm>
          <a:prstGeom prst="roundRect">
            <a:avLst>
              <a:gd name="adj" fmla="val 1796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8368" y="155448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殼體材料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468368" y="1938528"/>
            <a:ext cx="3270504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射出 ABS/PC(玻纖強化)、CNC/沖壓鋁、壓鑄鎂(勁度/阻尼/重量三優 — 高階耳機的隱形冠軍)、不鏽鋼頭帶簧片、3D 列印樹脂(CIEM 產業化)。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8141208" y="1463040"/>
            <a:ext cx="3563112" cy="3931920"/>
          </a:xfrm>
          <a:prstGeom prst="roundRect">
            <a:avLst>
              <a:gd name="adj" fmla="val 1796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7512" y="155448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阻尼網規格化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87512" y="1938528"/>
            <a:ext cx="3270504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調音網布(鋼/尼龍/微孔板)以 rayl 值像電子元件一樣被規格化採購 — 聲學工程師的「電阻色環」。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第4講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磁體與殼體結構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量產與品質體系:四個階段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014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754880"/>
                <a:gridCol w="4800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階段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關鍵規格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① 單體廠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振膜熱成形、繞線貼合、充磁、自動組裝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每顆單體 100% 測量分級,以頻響配對左右(高階 ±0.5–1 dB)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② 整機組裝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腔體+阻尼貼放(依賴治具與手感)、墊圈、頭帶、落板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DFM 決定良率:防呆、阻尼不可貼反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③ 端末檢測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迷你消音箱數秒完成:頻響遮罩、異音、極性、麥克風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100% 執行(Klippel / Listen SoundCheck)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④ 可靠度驗證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落下、翻滾、線折 &gt;10k、頭帶 &gt;50k、鹽霧、溫循、IP 水槽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TWS 追加:電池 500 循環 ≥80%、UN 38.3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806440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▍</a:t>
            </a:r>
            <a:pPr indent="0" marL="0">
              <a:buNone/>
            </a:pPr>
            <a:r>
              <a:rPr lang="en-US" sz="125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成本解剖:換能器數美元;SoC+電池+麥克風+機構+認證是 BOM 主體 — 「維持第 100,000 台與金樣品一致」是看不見的戰場。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第4講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量產與品質體系:四個階段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SUSTAINABILITY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永續與可維修:從美德到合規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72684" cy="2295144"/>
          </a:xfrm>
          <a:prstGeom prst="roundRect">
            <a:avLst>
              <a:gd name="adj" fmla="val 2789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554480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失效順序的真相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9224" y="1938528"/>
            <a:ext cx="518007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電池(2–4 年)與墊圈(1–3 年)遠早於單體(數十年)死亡;膠合電池使 TWS 成為拋棄式品類 — 每年數億副電子垃圾。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6231636" y="1463040"/>
            <a:ext cx="5472684" cy="2295144"/>
          </a:xfrm>
          <a:prstGeom prst="roundRect">
            <a:avLst>
              <a:gd name="adj" fmla="val 2789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77940" y="1554480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法規正在到來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77940" y="1938528"/>
            <a:ext cx="518007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歐盟電池法規與維修權立法:「可換電池、零件供應、維修文件」從美德變成合規要求。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502920" y="4014216"/>
            <a:ext cx="5472684" cy="2295144"/>
          </a:xfrm>
          <a:prstGeom prst="roundRect">
            <a:avLst>
              <a:gd name="adj" fmla="val 2789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4105656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設計對策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9224" y="4489704"/>
            <a:ext cx="518007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模組化(可換墊圈/線材/電池 — HD 25、HD 600 全件可換;Fairbuds 可換電池 TWS)、標準接頭、韌體支援年限、再生材料。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6231636" y="4014216"/>
            <a:ext cx="5472684" cy="2295144"/>
          </a:xfrm>
          <a:prstGeom prst="roundRect">
            <a:avLst>
              <a:gd name="adj" fmla="val 2789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7940" y="4105656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永續 = 聲學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77940" y="4489704"/>
            <a:ext cx="518007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可換墊圈同時恢復原廠調音 — 密封墊圈老化即調音漂移;不可換墊的設計等於「內建過期日」。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第4講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永續與可維修:從美德到合規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7B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重點整理 — 帶得走的觀念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37944"/>
            <a:ext cx="502920" cy="502920"/>
          </a:xfrm>
          <a:prstGeom prst="ellipse">
            <a:avLst/>
          </a:prstGeom>
          <a:solidFill>
            <a:srgbClr val="F7B64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837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7830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舒適是可計算的:P = F/A,對照微血管灌流壓 ~4 kPa;夾持力窗 3–6 N;重量預算分級管理。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770632"/>
            <a:ext cx="502920" cy="502920"/>
          </a:xfrm>
          <a:prstGeom prst="ellipse">
            <a:avLst/>
          </a:prstGeom>
          <a:solidFill>
            <a:srgbClr val="F7B64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715768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振膜看兩個數:比模數 E/ρ(推高 break-up)與內阻尼 tan δ — 行銷名詞後面永遠追問這兩個數。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3703320"/>
            <a:ext cx="502920" cy="502920"/>
          </a:xfrm>
          <a:prstGeom prst="ellipse">
            <a:avLst/>
          </a:prstGeom>
          <a:solidFill>
            <a:srgbClr val="F7B64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36484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鎂合金是高階耳機的隱形冠軍;阻尼網以 rayl 值採購 — 材料在耳機業以「聲學參數」被規格化。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94360" y="4636008"/>
            <a:ext cx="502920" cy="502920"/>
          </a:xfrm>
          <a:prstGeom prst="ellipse">
            <a:avLst/>
          </a:prstGeom>
          <a:solidFill>
            <a:srgbClr val="F7B64F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636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4581144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高階品的隱藏成本在「配對」與「一致性」:單體 100% 測量分級、端末 100% 聲學檢測。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94360" y="5568696"/>
            <a:ext cx="502920" cy="502920"/>
          </a:xfrm>
          <a:prstGeom prst="ellipse">
            <a:avLst/>
          </a:prstGeom>
          <a:solidFill>
            <a:srgbClr val="F7B64F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5568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5513832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電池與墊圈先死:可維修性=聲學壽命+商業誠信+即將到來的法規,三合一問題。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第4講 · 工業設計、人因工程、材料與結構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HOMEWORK &amp;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課後作業與下一講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949440" cy="4206240"/>
          </a:xfrm>
          <a:prstGeom prst="roundRect">
            <a:avLst>
              <a:gd name="adj" fmla="val 1739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課後作業 4(6%)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6492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對一款耳罩式耳機執行完整「人因稽核」: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實測或估計夾持力與接觸面積,計算平均壓力並與 4 kPa 對照。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稱重;記錄 1 小時配戴之熱與壓力主觀量表(每 15 分鐘一次)。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提出兩項具體改良設計。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交付:1,000 字 + 圖表。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26680" y="1463040"/>
            <a:ext cx="3977640" cy="4206240"/>
          </a:xfrm>
          <a:prstGeom prst="roundRect">
            <a:avLst>
              <a:gd name="adj" fmla="val 183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0" y="16916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B6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課前閱讀(第五講)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0" y="214884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八大案例基本資料卡(課程網站)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預習「五構面分析法」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7955280" y="46177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30" b="1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下一講:經典設計分析 — 每一款傳世之作都在回答一個時代問題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第4講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作業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2026-07-24T01:39:59Z</dcterms:created>
  <dcterms:modified xsi:type="dcterms:W3CDTF">2026-07-24T01:39:59Z</dcterms:modified>
</cp:coreProperties>
</file>